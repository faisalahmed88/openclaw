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AI Fundamentals &amp; OpenClaw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999AA"/>
                </a:solidFill>
              </a:defRPr>
            </a:pPr>
            <a:r>
              <a:t>Models · Agents · Tokens · MCP · Sessions · Skills — and how OpenClaw ties it all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AA"/>
                </a:solidFill>
              </a:defRPr>
            </a:pPr>
            <a:r>
              <a:t>Faisal Ahmed  ·  February 2026  ·  Programming Context (VS Code / Anthropic / OpenAI Codex)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2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CCCCDD"/>
                </a:solidFill>
              </a:defRPr>
            </a:pPr>
            <a:r>
              <a:t>1.  AI Basics — what is AI, ML, LLMs</a:t>
            </a:r>
          </a:p>
          <a:p>
            <a:pPr>
              <a:spcAft>
                <a:spcPts val="1000"/>
              </a:spcAft>
              <a:defRPr sz="2000">
                <a:solidFill>
                  <a:srgbClr val="CCCCDD"/>
                </a:solidFill>
              </a:defRPr>
            </a:pPr>
            <a:r>
              <a:t>2.  Models — types, open-source vs paid, capabilities comparison</a:t>
            </a:r>
          </a:p>
          <a:p>
            <a:pPr>
              <a:spcAft>
                <a:spcPts val="1000"/>
              </a:spcAft>
              <a:defRPr sz="2000">
                <a:solidFill>
                  <a:srgbClr val="CCCCDD"/>
                </a:solidFill>
              </a:defRPr>
            </a:pPr>
            <a:r>
              <a:t>3.  Anthropic Claude vs OpenAI GPT/Codex — key differences</a:t>
            </a:r>
          </a:p>
          <a:p>
            <a:pPr>
              <a:spcAft>
                <a:spcPts val="1000"/>
              </a:spcAft>
              <a:defRPr sz="2000">
                <a:solidFill>
                  <a:srgbClr val="CCCCDD"/>
                </a:solidFill>
              </a:defRPr>
            </a:pPr>
            <a:r>
              <a:t>4.  Tokens &amp; Context Windows — how models consume input</a:t>
            </a:r>
          </a:p>
          <a:p>
            <a:pPr>
              <a:spcAft>
                <a:spcPts val="1000"/>
              </a:spcAft>
              <a:defRPr sz="2000">
                <a:solidFill>
                  <a:srgbClr val="CCCCDD"/>
                </a:solidFill>
              </a:defRPr>
            </a:pPr>
            <a:r>
              <a:t>5.  Agents — what they are, multi-agent orchestration, agent handoff</a:t>
            </a:r>
          </a:p>
          <a:p>
            <a:pPr>
              <a:spcAft>
                <a:spcPts val="1000"/>
              </a:spcAft>
              <a:defRPr sz="2000">
                <a:solidFill>
                  <a:srgbClr val="CCCCDD"/>
                </a:solidFill>
              </a:defRPr>
            </a:pPr>
            <a:r>
              <a:t>6.  Configurable Tools &amp; MCP (Model Context Protocol)</a:t>
            </a:r>
          </a:p>
          <a:p>
            <a:pPr>
              <a:spcAft>
                <a:spcPts val="1000"/>
              </a:spcAft>
              <a:defRPr sz="2000">
                <a:solidFill>
                  <a:srgbClr val="CCCCDD"/>
                </a:solidFill>
              </a:defRPr>
            </a:pPr>
            <a:r>
              <a:t>7.  Sessions, Context Management, Add-Context</a:t>
            </a:r>
          </a:p>
          <a:p>
            <a:pPr>
              <a:spcAft>
                <a:spcPts val="1000"/>
              </a:spcAft>
              <a:defRPr sz="2000">
                <a:solidFill>
                  <a:srgbClr val="CCCCDD"/>
                </a:solidFill>
              </a:defRPr>
            </a:pPr>
            <a:r>
              <a:t>8.  Custom Agents &amp; Skills (deep dive)</a:t>
            </a:r>
          </a:p>
          <a:p>
            <a:pPr>
              <a:spcAft>
                <a:spcPts val="1000"/>
              </a:spcAft>
              <a:defRPr sz="2000">
                <a:solidFill>
                  <a:srgbClr val="CCCCDD"/>
                </a:solidFill>
              </a:defRPr>
            </a:pPr>
            <a:r>
              <a:t>9.  VS Code as the AI IDE — Copilot, extensions, ACP</a:t>
            </a:r>
          </a:p>
          <a:p>
            <a:pPr>
              <a:spcAft>
                <a:spcPts val="1000"/>
              </a:spcAft>
              <a:defRPr sz="2000">
                <a:solidFill>
                  <a:srgbClr val="CCCCDD"/>
                </a:solidFill>
              </a:defRPr>
            </a:pPr>
            <a:r>
              <a:t>10. OpenClaw — architecture walkthrough using all the above concepts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2788920"/>
            <a:ext cx="274320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1.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999AA"/>
                </a:solidFill>
              </a:defRPr>
            </a:pPr>
            <a:r>
              <a:t>Artificial Intelligence → Machine Learning → Deep Learning → LLMs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2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AI Basics — Core Concepts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474720" cy="493776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</a:defRPr>
            </a:pPr>
            <a:r>
              <a:t>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Broad field: machines performing tasks that typically require human intelligence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Includes: vision, NLP, robotics, reasoning, planning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Sub-fields: ML, deep learning, reinforcement learning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280160"/>
            <a:ext cx="3474720" cy="493776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417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</a:defRPr>
            </a:pPr>
            <a:r>
              <a:t>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82880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Algorithms that learn patterns from data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Supervised: labeled data (classification, regression)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Unsupervised: clustering, dimensionality reduction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Reinforcement: trial-and-error with reward signals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280160"/>
            <a:ext cx="3474720" cy="493776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417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</a:defRPr>
            </a:pPr>
            <a:r>
              <a:t>Large Language Models (LLMs)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82880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Neural networks trained on massive text corpora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Predict next token given context (autoregressive)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Capabilities: text generation, code, reasoning, translation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Examples: GPT-4o, Claude Opus, Llama 3, Gemini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2788920"/>
            <a:ext cx="274320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2.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999AA"/>
                </a:solidFill>
              </a:defRPr>
            </a:pPr>
            <a:r>
              <a:t>Types · Open-Source vs Paid · Capabilities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2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Model Types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303520" cy="219456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</a:defRPr>
            </a:pPr>
            <a:r>
              <a:t>By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Autoregressive (GPT, Claude, Llama) — generate token-by-token left→right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Encoder-only (BERT) — bidirectional, good for classification/embeddings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Encoder-Decoder (T5, BART) — seq2seq tasks (translation, summarization)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Mixture of Experts (MoE) — Mixtral, GPT-4 — route tokens to specialist sub-networks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280160"/>
            <a:ext cx="5303520" cy="219456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4173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</a:defRPr>
            </a:pPr>
            <a:r>
              <a:t>By Modality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Text-only: GPT-4o-mini, Claude Haiku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Multimodal: GPT-4o (text+image+audio), Claude Opus (text+image)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Code-specialized: Codex, DeepSeek Coder, CodeLlama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Embedding: text-embedding-3, voyage-3 — vector representations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840480"/>
            <a:ext cx="5303520" cy="256032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9776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</a:defRPr>
            </a:pPr>
            <a:r>
              <a:t>Open-Source (Free)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Llama 3.1 (Meta) — 8B/70B/405B params, very capable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Mistral / Mixtral (Mistral AI) — efficient MoE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DeepSeek V3/R1 — strong reasoning, code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Qwen 2.5 (Alibaba) — multilingual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Phi-4 (Microsoft) — small but strong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Run locally via Ollama, llama.cpp, vLLM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840480"/>
            <a:ext cx="5303520" cy="256032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9776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</a:defRPr>
            </a:pPr>
            <a:r>
              <a:t>Paid /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38912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OpenAI: GPT-4o, GPT-4o-mini, o1/o3 (reasoning), Codex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Anthropic: Claude Opus 4.6, Sonnet 4.5, Haiku 3.5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Google: Gemini 2.5 Pro/Flash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AWS Bedrock: hosts Claude, Llama, Cohere, Titan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Pricing: per input/output token (varies 10x–100x by model)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OAuth subscription: Claude Pro/Max, ChatGPT Plus/Pro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2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Anthropic Claude vs OpenAI GPT / Codex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303520" cy="493776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7316"/>
                </a:solidFill>
              </a:defRPr>
            </a:pPr>
            <a:r>
              <a:t>Anthropic 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Models: Opus 4.6 (flagship), Sonnet 4.5, Haiku 3.5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Strengths: long-context (200K tokens), safety-focused, strong reasoning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Extended thinking: dedicated thinking budget for complex tasks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Better prompt-injection resistance (Constitutional AI)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Code: excellent at TypeScript, Python, multi-file refactoring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API: Messages API with system/user/assistant roles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Auth: OAuth (Pro/Max subscription) or API key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VS Code: powers GitHub Copilot (Claude model option)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280160"/>
            <a:ext cx="5303520" cy="493776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4173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</a:defRPr>
            </a:pPr>
            <a:r>
              <a:t>OpenAI GPT /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Models: GPT-4o (multimodal), o1/o3 (reasoning), Codex (code agent)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Strengths: multimodal (text+image+audio), function calling, JSON mode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Codex: cloud sandbox agent for autonomous code tasks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Broader ecosystem: ChatGPT, DALL-E, Whisper, TTS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API: Chat Completions + Assistants API + Responses API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Context: 128K tokens (GPT-4o), 200K (o1)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Auth: API key or ChatGPT Plus/Pro subscription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VS Code: GitHub Copilot (GPT-4o option), Codex agent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2788920"/>
            <a:ext cx="274320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3. Tokens &amp; Context Window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999AA"/>
                </a:solidFill>
              </a:defRPr>
            </a:pPr>
            <a:r>
              <a:t>The currency of LLMs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2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Tokens — How Models Read 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303520" cy="493776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</a:defRPr>
            </a:pPr>
            <a:r>
              <a:t>What Are Tokens?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Atomic units after tokenization (subwords/pieces)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"Hello world" → ["Hello", " world"] = 2 tokens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"Anthropic" → ["Anthrop", "ic"] = 2 tokens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Rule of thumb: 1 token ≈ 4 characters ≈ 0.75 words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1K tokens ≈ 750 English words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Code tokens are different: symbols, brackets count as tokens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Tokenizers: BPE (OpenAI), SentencePiece (LLama/Claude)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Each model has its own tokenizer — token counts differ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280160"/>
            <a:ext cx="5303520" cy="493776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4173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</a:defRPr>
            </a:pPr>
            <a:r>
              <a:t>Why Tokens Matter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Cost: billed per input + output tokens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  GPT-4o: ~$2.50/1M input, ~$10/1M output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  Claude Opus: ~$15/1M input, ~$75/1M output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  Claude Haiku: ~$0.25/1M input, ~$1.25/1M output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Speed: more tokens = slower generation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Context window = max tokens model can see at once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Attention complexity: roughly O(n²) with token count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Prompt engineering: keep instructions concise to save tokens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2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Context Window — Model Memory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0789920" cy="201168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</a:defRPr>
            </a:pPr>
            <a:r>
              <a:t>What Is the Context Window?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424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Max tokens (prompt + completion) the model can attend to in one request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Anything beyond the limit is truncated (usually from the start) — model forgets it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Larger window = more context, but higher cost + latency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566160"/>
            <a:ext cx="5303520" cy="292608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7033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</a:defRPr>
            </a:pPr>
            <a:r>
              <a:t>Context Window Sizes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GPT-4o: 128K tokens (~96K words)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GPT-4o-mini: 128K tokens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o1 / o3: 200K tokens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Claude Opus 4.6: 200K tokens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Claude Sonnet 4.5: 200K tokens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Gemini 2.5 Pro: 1M tokens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Llama 3.1 405B: 128K tokens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566160"/>
            <a:ext cx="5303520" cy="292608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37033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</a:defRPr>
            </a:pPr>
            <a:r>
              <a:t>Best Practices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11480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Put critical instructions at the START of the prompt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Use retrieval (RAG): fetch relevant chunks, not full docs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Summarize long histories instead of including verbatim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Use embeddings + vector DB for long-term memory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Chunk large files and process incrementally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Monitor token usage to control costs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2788920"/>
            <a:ext cx="274320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4.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999AA"/>
                </a:solidFill>
              </a:defRPr>
            </a:pPr>
            <a:r>
              <a:t>Autonomous workers that use models + tools to accomplish tasks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2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What Is an Agent?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303520" cy="493776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</a:defRPr>
            </a:pPr>
            <a:r>
              <a:t>Agent = Model + Tools +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An agent is software that reasons, plans, and acts autonomously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Uses an LLM as its 'brain' for reasoning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Has access to tools (shell, HTTP, file I/O, APIs)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Runs in a loop: Think → Act → Observe → Repeat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Maintains state across steps (session, memory)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Can ask clarifying questions or delegate to sub-agents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Enforces policies: permissions, timeouts, safety guards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280160"/>
            <a:ext cx="5303520" cy="493776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4173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</a:defRPr>
            </a:pPr>
            <a:r>
              <a:t>Agent vs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Model: stateless prediction engine (input→output)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Agent: stateful orchestrator (plan→execute→iterate)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Model: single inference call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Agent: multiple calls in a reasoning loop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Model: no tools (just text/tokens)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Agent: can call tools, read files, run code, browse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Model: you control the loop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Agent: controls its own loop (autonomous)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2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Multi-Agent Orchestration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474720" cy="493776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</a:defRPr>
            </a:pPr>
            <a:r>
              <a:t>Parallel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Multiple agents run concurrently on separate tasks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Example: Agent A refactors code, Agent B writes tests, Agent C updates docs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Each has its own session, tools, and working directory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No shared state — communicate via files, messages, or queues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OpenClaw: multiple CLI agents in separate terminals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VS Code: Copilot multi-agent with workspace isolation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280160"/>
            <a:ext cx="3474720" cy="493776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417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</a:defRPr>
            </a:pPr>
            <a:r>
              <a:t>Agent Communication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82880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Agents can talk to each other via: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• Shared files (git repo as shared state)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• Message queues / event bus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• Gateway WebSocket events (OpenClaw)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• Agent Client Protocol (ACP) sessions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• Tool calls that invoke other agents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Pattern: coordinator agent delegates sub-tasks to worker agents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280160"/>
            <a:ext cx="3474720" cy="493776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417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</a:defRPr>
            </a:pPr>
            <a:r>
              <a:t>Agent Handoff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82880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Transfer a conversation/task from one agent to another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Use cases: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• Escalation: simple agent → expert agent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• Specialization: code agent → review agent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• Capacity: busy agent → available agent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Handoff includes: session state, context, pending tasks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OpenClaw: session key routing between agents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2788920"/>
            <a:ext cx="274320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5. Configurable Tools &amp; MCP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999AA"/>
                </a:solidFill>
              </a:defRPr>
            </a:pPr>
            <a:r>
              <a:t>Model Context Protocol — the USB-C of AI tools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2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Configurable Tools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303520" cy="493776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</a:defRPr>
            </a:pPr>
            <a:r>
              <a:t>What Are Tools?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Functions/APIs an agent can call during reasoning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Defined as JSON schemas (name, description, parameters)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Agent decides WHEN and HOW to call them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Common tool types: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• Shell / terminal execution (bash, cmd)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• File system (read, write, search, list)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• HTTP / API calls (fetch URLs, REST APIs)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• Browser automation (Playwright)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• Database queries (SQL, vector search)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• Custom plugins (any function you define)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280160"/>
            <a:ext cx="5303520" cy="493776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4173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</a:defRPr>
            </a:pPr>
            <a:r>
              <a:t>Tool Configuration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Tools are registered with the agent at startup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Each tool has: name, description, input schema, handler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Permission levels: auto-approve (read), prompt (write/exec)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Tool categories: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  read / search → safe, auto-approved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  edit / write → requires confirmation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  execute / bash → dangerous, always prompt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  delete / move → destructive, always prompt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Tools can be added/removed per session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OpenClaw: tools configured via gateway + plugin SDK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2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MCP — Model Context Protocol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0789920" cy="182880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</a:defRPr>
            </a:pPr>
            <a:r>
              <a:t>What Is MCP?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Open standard (by Anthropic) for connecting AI agents to external tools &amp; data sources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Think of it as 'USB-C for AI' — one protocol, many tools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JSON-RPC over stdio or HTTP — transport-agnostic, language-agnostic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383280"/>
            <a:ext cx="3474720" cy="310896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</a:defRPr>
            </a:pPr>
            <a:r>
              <a:t>MCP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MCP Host: the AI app (VS Code, Claude Desktop)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MCP Client: manages connection to servers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MCP Server: exposes tools + resources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Transport: stdio (local) or HTTP/SSE (remote)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Protocol: initialize → list tools → call tool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3383280"/>
            <a:ext cx="3474720" cy="310896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3520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</a:defRPr>
            </a:pPr>
            <a:r>
              <a:t>MCP Capabilities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93192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Tools: functions the agent can invoke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Resources: data sources the agent can read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Prompts: reusable prompt templates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Sampling: let server request LLM completions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Roots: file system roots for sandboxing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Logging: structured diagnostic output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3383280"/>
            <a:ext cx="3474720" cy="310896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3520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</a:defRPr>
            </a:pPr>
            <a:r>
              <a:t>MCP in Practice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93192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VS Code: Copilot supports MCP servers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Claude Desktop: native MCP integration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OpenClaw: gateway acts as MCP-like tool hub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Examples: GitHub MCP, Postgres MCP, Filesystem MCP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Community: 1000s of MCP servers on GitHub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Config: JSON in settings / mcp.json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2788920"/>
            <a:ext cx="274320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6. Sessions &amp; Context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999AA"/>
                </a:solidFill>
              </a:defRPr>
            </a:pPr>
            <a:r>
              <a:t>How agents maintain state across interactions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2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Sessions, Context, Add-Context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474720" cy="493776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</a:defRPr>
            </a:pPr>
            <a:r>
              <a:t>Sessions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A session = persistent conversation state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Contains: message history, tool results, metadata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Identified by session key (e.g. 'agent:main:main')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Can be: created, loaded, listed, reset, compacted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Session store: in-memory, file-based, or DB-backed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OpenClaw: sessions managed via gateway WebSocket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Multiple sessions can run in parallel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280160"/>
            <a:ext cx="3474720" cy="493776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417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</a:defRPr>
            </a:pPr>
            <a:r>
              <a:t>Context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82880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Context = everything the model sees in a request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Includes: system prompt + history + tools + user input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Must fit within the context window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Strategies when context is full: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• Truncate oldest messages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• Summarize/compact history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• Use retrieval (RAG) for relevant chunks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• Sliding window over conversation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OpenClaw: auto-compaction via /compact command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280160"/>
            <a:ext cx="3474720" cy="493776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417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</a:defRPr>
            </a:pPr>
            <a:r>
              <a:t>Add-Context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82880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Dynamically inject context into agent prompts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Types of added context: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• Files: attach source code or docs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• URLs: fetch and include web pages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• Images: screenshots, diagrams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• Resources: MCP resource URIs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• Clipboard: paste content directly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VS Code Copilot: #file, #selection, #codebase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OpenClaw: attachments in chat.send, CWD prefix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2788920"/>
            <a:ext cx="274320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7. Custom Agents &amp;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999AA"/>
                </a:solidFill>
              </a:defRPr>
            </a:pPr>
            <a:r>
              <a:t>Building specialized agents with reusable capabilities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2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Custom Agents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303520" cy="493776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</a:defRPr>
            </a:pPr>
            <a:r>
              <a:t>What Are Custom Agents?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Agents configured for specific roles or domains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Customized via: system prompt, tool set, model choice, policies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Examples: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• Code Review Agent — reads PRs, uses lint/test tools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• DevOps Agent — manages deployments, uses SSH/kubectl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• Docs Agent — writes documentation, uses Mintlify tools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• Security Agent — audits code, uses SAST/DAST scanners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Configuration approaches: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• System prompt templates (persona + rules + examples)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• Tool allow-lists (only give relevant tools)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• Model selection (fast model for simple, powerful for complex)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280160"/>
            <a:ext cx="5303520" cy="493776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4173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</a:defRPr>
            </a:pPr>
            <a:r>
              <a:t>Agent Configuration in OpenClaw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System prompt: configurable per session/channel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Model: selectable via /model command or config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Thinking level: off/minimal/low/medium/high/xhigh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Tools: registered via plugin SDK + gateway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Permissions: auto-approve safe, prompt for dangerous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Session key: routes to specific agent instance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Channels: agent responds on WhatsApp, Discord, Telegram, etc.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Hooks: lifecycle callbacks (before/after reply, on error)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Cron: scheduled agent tasks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2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Skills — Deep Dive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0789920" cy="146304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</a:defRPr>
            </a:pPr>
            <a:r>
              <a:t>What Are Skills?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Skills = reusable, structured knowledge documents that teach an agent HOW to do a specific task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They are NOT code — they are markdown instructions that get injected into the agent's context when relevant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Think of skills as 'playbooks' or 'runbooks' the agent follows step-by-step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017520"/>
            <a:ext cx="3474720" cy="347472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154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</a:defRPr>
            </a:pPr>
            <a:r>
              <a:t>Skill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Each skill contains: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• Name: identifier (e.g. 'review-pr')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• Description: when to use this skill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• File: markdown with detailed instructions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Skill file includes: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• Step-by-step workflow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• Tool usage patterns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• Decision trees / conditionals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• Output format templates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• Error handling guidance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3017520"/>
            <a:ext cx="3474720" cy="347472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3154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</a:defRPr>
            </a:pPr>
            <a:r>
              <a:t>How Skills Are Used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56616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1. User asks agent to do something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2. Agent (or system) matches task to a skill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3. Skill instructions are injected into context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4. Agent follows the skill step-by-step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5. Skill guides: which tools to call, in what order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Activation: keyword match, explicit command, or auto-detect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Skills can reference other skills (chaining)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Skills are version-controlled (in repo)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3017520"/>
            <a:ext cx="3474720" cy="347472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3154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</a:defRPr>
            </a:pPr>
            <a:r>
              <a:t>OpenClaw Skills (examples)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56616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review-pr: deterministic PR review workflow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  → reads diff, runs checks, produces findings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prepare-pr: push-safe PR preparation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  → resolves findings, formats commits, pushes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merge-pr: squash-merge with check gating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  → verifies CI, pins SHA, merges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mintlify: docs site maintenance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  → follows Mintlify conventions, checks links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Located in: .agents/skills/&lt;name&gt;/SKILL.md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2788920"/>
            <a:ext cx="274320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8. VS Code — The AI 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999AA"/>
                </a:solidFill>
              </a:defRPr>
            </a:pPr>
            <a:r>
              <a:t>GitHub Copilot · Extensions · Agent Client Protocol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2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VS Code as the AI Development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474720" cy="493776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</a:defRPr>
            </a:pPr>
            <a:r>
              <a:t>GitHub Copilot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AI pair programmer built into VS Code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Inline completions (ghost text)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Chat panel: ask questions about code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Agent mode: autonomous multi-step coding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Models: GPT-4o, Claude Opus/Sonnet, Gemini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MCP support: connect external tool servers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Custom instructions: .github/copilot-instructions.md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280160"/>
            <a:ext cx="3474720" cy="493776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417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</a:defRPr>
            </a:pPr>
            <a:r>
              <a:t>Context Variables (#)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82880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#file — include a specific file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#selection — current editor selection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#codebase — semantic search across project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#terminalLastCommand — last terminal output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#problems — VS Code diagnostics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#fetch — fetch a URL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#changes — git diff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These inject context into the prompt dynamically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280160"/>
            <a:ext cx="3474720" cy="493776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417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</a:defRPr>
            </a:pPr>
            <a:r>
              <a:t>ACP (Agent Client Protocol)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82880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Standard for IDE ↔ Agent communication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Used by VS Code, JetBrains, terminal clients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JSON-RPC over stdio (ndjson streams)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Operations: initialize, newSession, prompt, cancel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Session updates: streaming text, tool calls, commands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Permission model: auto-approve safe, prompt dangerous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OpenClaw: full ACP server + client in src/acp/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2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Model Capabilities Comparison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743200" cy="128016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7316"/>
                </a:solidFill>
              </a:defRPr>
            </a:pPr>
            <a:r>
              <a:t>Claude Opus 4.6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DD"/>
                </a:solidFill>
              </a:defRPr>
            </a:pPr>
            <a:r>
              <a:t>Best: long-context reasoning, code refactoring, safety</a:t>
            </a:r>
          </a:p>
          <a:p>
            <a:pPr>
              <a:spcAft>
                <a:spcPts val="600"/>
              </a:spcAft>
              <a:defRPr sz="1300">
                <a:solidFill>
                  <a:srgbClr val="CCCCDD"/>
                </a:solidFill>
              </a:defRPr>
            </a:pPr>
            <a:r>
              <a:t>Context: 200K tokens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280160"/>
            <a:ext cx="2743200" cy="128016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417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7316"/>
                </a:solidFill>
              </a:defRPr>
            </a:pPr>
            <a:r>
              <a:t>Claude Sonnet 4.5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8288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DD"/>
                </a:solidFill>
              </a:defRPr>
            </a:pPr>
            <a:r>
              <a:t>Best: balanced speed + quality, daily coding</a:t>
            </a:r>
          </a:p>
          <a:p>
            <a:pPr>
              <a:spcAft>
                <a:spcPts val="600"/>
              </a:spcAft>
              <a:defRPr sz="1300">
                <a:solidFill>
                  <a:srgbClr val="CCCCDD"/>
                </a:solidFill>
              </a:defRPr>
            </a:pPr>
            <a:r>
              <a:t>Context: 200K tokens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280160"/>
            <a:ext cx="2743200" cy="128016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417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7316"/>
                </a:solidFill>
              </a:defRPr>
            </a:pPr>
            <a:r>
              <a:t>Claude Haiku 3.5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8288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DD"/>
                </a:solidFill>
              </a:defRPr>
            </a:pPr>
            <a:r>
              <a:t>Best: fast, cheap, simple tasks, classification</a:t>
            </a:r>
          </a:p>
          <a:p>
            <a:pPr>
              <a:spcAft>
                <a:spcPts val="600"/>
              </a:spcAft>
              <a:defRPr sz="1300">
                <a:solidFill>
                  <a:srgbClr val="CCCCDD"/>
                </a:solidFill>
              </a:defRPr>
            </a:pPr>
            <a:r>
              <a:t>Context: 200K tokens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1280160"/>
            <a:ext cx="2286000" cy="128016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0" y="1417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</a:defRPr>
            </a:pPr>
            <a:r>
              <a:t>GPT-4o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18288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DD"/>
                </a:solidFill>
              </a:defRPr>
            </a:pPr>
            <a:r>
              <a:t>Best: multimodal, function calling, JSON</a:t>
            </a:r>
          </a:p>
          <a:p>
            <a:pPr>
              <a:spcAft>
                <a:spcPts val="600"/>
              </a:spcAft>
              <a:defRPr sz="1300">
                <a:solidFill>
                  <a:srgbClr val="CCCCDD"/>
                </a:solidFill>
              </a:defRPr>
            </a:pPr>
            <a:r>
              <a:t>Context: 128K tokens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834640"/>
            <a:ext cx="2743200" cy="128016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971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</a:defRPr>
            </a:pPr>
            <a:r>
              <a:t>GPT o1 / o3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3832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DD"/>
                </a:solidFill>
              </a:defRPr>
            </a:pPr>
            <a:r>
              <a:t>Best: complex reasoning, math, science</a:t>
            </a:r>
          </a:p>
          <a:p>
            <a:pPr>
              <a:spcAft>
                <a:spcPts val="600"/>
              </a:spcAft>
              <a:defRPr sz="1300">
                <a:solidFill>
                  <a:srgbClr val="CCCCDD"/>
                </a:solidFill>
              </a:defRPr>
            </a:pPr>
            <a:r>
              <a:t>Context: 200K tokens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0" y="2834640"/>
            <a:ext cx="2743200" cy="128016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2971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</a:defRPr>
            </a:pPr>
            <a:r>
              <a:t>Codex (OpenAI)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3832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DD"/>
                </a:solidFill>
              </a:defRPr>
            </a:pPr>
            <a:r>
              <a:t>Best: autonomous code tasks in sandbox</a:t>
            </a:r>
          </a:p>
          <a:p>
            <a:pPr>
              <a:spcAft>
                <a:spcPts val="600"/>
              </a:spcAft>
              <a:defRPr sz="1300">
                <a:solidFill>
                  <a:srgbClr val="CCCCDD"/>
                </a:solidFill>
              </a:defRPr>
            </a:pPr>
            <a:r>
              <a:t>Context: 192K tokens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2834640"/>
            <a:ext cx="2743200" cy="128016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2971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</a:defRPr>
            </a:pPr>
            <a:r>
              <a:t>Gemini 2.5 Pro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3832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DD"/>
                </a:solidFill>
              </a:defRPr>
            </a:pPr>
            <a:r>
              <a:t>Best: massive context, multimodal</a:t>
            </a:r>
          </a:p>
          <a:p>
            <a:pPr>
              <a:spcAft>
                <a:spcPts val="600"/>
              </a:spcAft>
              <a:defRPr sz="1300">
                <a:solidFill>
                  <a:srgbClr val="CCCCDD"/>
                </a:solidFill>
              </a:defRPr>
            </a:pPr>
            <a:r>
              <a:t>Context: 1M tokens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60" y="2834640"/>
            <a:ext cx="2286000" cy="128016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0" y="29718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</a:defRPr>
            </a:pPr>
            <a:r>
              <a:t>Llama 3.1 405B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33832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DD"/>
                </a:solidFill>
              </a:defRPr>
            </a:pPr>
            <a:r>
              <a:t>Best: open-source, self-hosted, privacy</a:t>
            </a:r>
          </a:p>
          <a:p>
            <a:pPr>
              <a:spcAft>
                <a:spcPts val="600"/>
              </a:spcAft>
              <a:defRPr sz="1300">
                <a:solidFill>
                  <a:srgbClr val="CCCCDD"/>
                </a:solidFill>
              </a:defRPr>
            </a:pPr>
            <a:r>
              <a:t>Context: 128K tokens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389120"/>
            <a:ext cx="2743200" cy="128016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5262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</a:defRPr>
            </a:pPr>
            <a:r>
              <a:t>DeepSeek R1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9377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DD"/>
                </a:solidFill>
              </a:defRPr>
            </a:pPr>
            <a:r>
              <a:t>Best: open reasoning, code, low cost</a:t>
            </a:r>
          </a:p>
          <a:p>
            <a:pPr>
              <a:spcAft>
                <a:spcPts val="600"/>
              </a:spcAft>
              <a:defRPr sz="1300">
                <a:solidFill>
                  <a:srgbClr val="CCCCDD"/>
                </a:solidFill>
              </a:defRPr>
            </a:pPr>
            <a:r>
              <a:t>Context: 128K tokens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74720" y="4389120"/>
            <a:ext cx="2743200" cy="128016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0" y="45262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</a:defRPr>
            </a:pPr>
            <a:r>
              <a:t>Mistral / Mixtral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49377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DD"/>
                </a:solidFill>
              </a:defRPr>
            </a:pPr>
            <a:r>
              <a:t>Best: efficient MoE, EU-hosted, multilingual</a:t>
            </a:r>
          </a:p>
          <a:p>
            <a:pPr>
              <a:spcAft>
                <a:spcPts val="600"/>
              </a:spcAft>
              <a:defRPr sz="1300">
                <a:solidFill>
                  <a:srgbClr val="CCCCDD"/>
                </a:solidFill>
              </a:defRPr>
            </a:pPr>
            <a:r>
              <a:t>Context: 128K tokens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92240" y="4389120"/>
            <a:ext cx="5303520" cy="128016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45262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ACC15"/>
                </a:solidFill>
              </a:defRPr>
            </a:pPr>
            <a:r>
              <a:t>Key Takeaway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49377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No single 'best' model — choose based on: task complexity, speed, cost, context needs, privacy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OpenClaw supports ALL of these via provider/model configuration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2788920"/>
            <a:ext cx="274320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9. OpenClaw — Putting It All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999AA"/>
                </a:solidFill>
              </a:defRPr>
            </a:pPr>
            <a:r>
              <a:t>Multi-channel AI gateway with extensible messaging integrations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2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What Is OpenClaw?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0789920" cy="146304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</a:defRPr>
            </a:pPr>
            <a:r>
              <a:t>Personal AI Assistant You Run on Your Own Devices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Open-source (MIT) · TypeScript/ESM · Node 22+ · CLI + Gateway + Multi-platform apps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Answers you on WhatsApp, Telegram, Slack, Discord, Signal, iMessage, Teams, WebChat + 15 more channels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The gateway is the control plane — the product is the assistant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017520"/>
            <a:ext cx="5303520" cy="347472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1546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</a:defRPr>
            </a:pPr>
            <a:r>
              <a:t>Core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Gateway Server: WebSocket + HTTP, manages sessions, routing, auth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Agents: AI reasoning loop (models + tools + session state)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Channels: message adapters (Telegram, Discord, Slack, etc.)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Providers: LLM integrations (Anthropic, OpenAI, Bedrock, local)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Plugin SDK: extension API for community channel/tool plugins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CLI: Commander-based, interactive setup wizard (openclaw onboard)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ACP Server: IDE integration via Agent Client Protocol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Apps: macOS (Swift), iOS (Swift), Android (Kotlin)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017520"/>
            <a:ext cx="5303520" cy="347472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31546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</a:defRPr>
            </a:pPr>
            <a:r>
              <a:t>Key Stats (from audit)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56616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1,875 TypeScript source files · 325,346 LOC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50 directories under src/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36 extensions (channel + tool plugins)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1,226 test files (vitest + V8 coverage)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326 English docs (Mintlify)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9 CI workflows (Linux/Windows/macOS, Node+Bun)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46 runtime dependencies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Daily releases with dense fix lists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2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OpenClaw — Concepts in 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474720" cy="219456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</a:defRPr>
            </a:pPr>
            <a:r>
              <a:t>🧠  Models (src/providers/)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DD"/>
                </a:solidFill>
              </a:defRPr>
            </a:pPr>
            <a:r>
              <a:t>Anthropic, OpenAI, Bedrock, local LLMs</a:t>
            </a:r>
          </a:p>
          <a:p>
            <a:pPr>
              <a:spcAft>
                <a:spcPts val="600"/>
              </a:spcAft>
              <a:defRPr sz="1300">
                <a:solidFill>
                  <a:srgbClr val="CCCCDD"/>
                </a:solidFill>
              </a:defRPr>
            </a:pPr>
            <a:r>
              <a:t>Model selection: /model command</a:t>
            </a:r>
          </a:p>
          <a:p>
            <a:pPr>
              <a:spcAft>
                <a:spcPts val="600"/>
              </a:spcAft>
              <a:defRPr sz="1300">
                <a:solidFill>
                  <a:srgbClr val="CCCCDD"/>
                </a:solidFill>
              </a:defRPr>
            </a:pPr>
            <a:r>
              <a:t>Failover: OAuth → API key rotation</a:t>
            </a:r>
          </a:p>
          <a:p>
            <a:pPr>
              <a:spcAft>
                <a:spcPts val="600"/>
              </a:spcAft>
              <a:defRPr sz="1300">
                <a:solidFill>
                  <a:srgbClr val="CCCCDD"/>
                </a:solidFill>
              </a:defRPr>
            </a:pPr>
            <a:r>
              <a:t>Thinking: off → xhigh (extended)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280160"/>
            <a:ext cx="3474720" cy="219456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417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</a:defRPr>
            </a:pPr>
            <a:r>
              <a:t>🤖  Agents (src/agents/)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8288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DD"/>
                </a:solidFill>
              </a:defRPr>
            </a:pPr>
            <a:r>
              <a:t>Agent loop: prompt → reason → tool → respond</a:t>
            </a:r>
          </a:p>
          <a:p>
            <a:pPr>
              <a:spcAft>
                <a:spcPts val="600"/>
              </a:spcAft>
              <a:defRPr sz="1300">
                <a:solidFill>
                  <a:srgbClr val="CCCCDD"/>
                </a:solidFill>
              </a:defRPr>
            </a:pPr>
            <a:r>
              <a:t>Embedded runner, sandbox, sub-agents</a:t>
            </a:r>
          </a:p>
          <a:p>
            <a:pPr>
              <a:spcAft>
                <a:spcPts val="600"/>
              </a:spcAft>
              <a:defRPr sz="1300">
                <a:solidFill>
                  <a:srgbClr val="CCCCDD"/>
                </a:solidFill>
              </a:defRPr>
            </a:pPr>
            <a:r>
              <a:t>ACP gateway agent (src/acp/)</a:t>
            </a:r>
          </a:p>
          <a:p>
            <a:pPr>
              <a:spcAft>
                <a:spcPts val="600"/>
              </a:spcAft>
              <a:defRPr sz="1300">
                <a:solidFill>
                  <a:srgbClr val="CCCCDD"/>
                </a:solidFill>
              </a:defRPr>
            </a:pPr>
            <a:r>
              <a:t>Multi-agent: parallel CLI sessions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280160"/>
            <a:ext cx="3474720" cy="219456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417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</a:defRPr>
            </a:pPr>
            <a:r>
              <a:t>🔧  Tools (src/agents/, plugins/)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8288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DD"/>
                </a:solidFill>
              </a:defRPr>
            </a:pPr>
            <a:r>
              <a:t>Shell exec, file I/O, browser (Playwright)</a:t>
            </a:r>
          </a:p>
          <a:p>
            <a:pPr>
              <a:spcAft>
                <a:spcPts val="600"/>
              </a:spcAft>
              <a:defRPr sz="1300">
                <a:solidFill>
                  <a:srgbClr val="CCCCDD"/>
                </a:solidFill>
              </a:defRPr>
            </a:pPr>
            <a:r>
              <a:t>HTTP/API calls, media processing</a:t>
            </a:r>
          </a:p>
          <a:p>
            <a:pPr>
              <a:spcAft>
                <a:spcPts val="600"/>
              </a:spcAft>
              <a:defRPr sz="1300">
                <a:solidFill>
                  <a:srgbClr val="CCCCDD"/>
                </a:solidFill>
              </a:defRPr>
            </a:pPr>
            <a:r>
              <a:t>Permission model: safe auto-approve</a:t>
            </a:r>
          </a:p>
          <a:p>
            <a:pPr>
              <a:spcAft>
                <a:spcPts val="600"/>
              </a:spcAft>
              <a:defRPr sz="1300">
                <a:solidFill>
                  <a:srgbClr val="CCCCDD"/>
                </a:solidFill>
              </a:defRPr>
            </a:pPr>
            <a:r>
              <a:t>Plugin-registered tools via SDK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749039"/>
            <a:ext cx="3474720" cy="219456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88619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</a:defRPr>
            </a:pPr>
            <a:r>
              <a:t>📡  Channels (src/channels/, ext/)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97679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DD"/>
                </a:solidFill>
              </a:defRPr>
            </a:pPr>
            <a:r>
              <a:t>Built-in: Telegram, Discord, Slack, Signal, etc.</a:t>
            </a:r>
          </a:p>
          <a:p>
            <a:pPr>
              <a:spcAft>
                <a:spcPts val="600"/>
              </a:spcAft>
              <a:defRPr sz="1300">
                <a:solidFill>
                  <a:srgbClr val="CCCCDD"/>
                </a:solidFill>
              </a:defRPr>
            </a:pPr>
            <a:r>
              <a:t>Extensions: Matrix, Nostr, IRC, Twitch, Teams</a:t>
            </a:r>
          </a:p>
          <a:p>
            <a:pPr>
              <a:spcAft>
                <a:spcPts val="600"/>
              </a:spcAft>
              <a:defRPr sz="1300">
                <a:solidFill>
                  <a:srgbClr val="CCCCDD"/>
                </a:solidFill>
              </a:defRPr>
            </a:pPr>
            <a:r>
              <a:t>Plugin SDK: build your own channel</a:t>
            </a:r>
          </a:p>
          <a:p>
            <a:pPr>
              <a:spcAft>
                <a:spcPts val="600"/>
              </a:spcAft>
              <a:defRPr sz="1300">
                <a:solidFill>
                  <a:srgbClr val="CCCCDD"/>
                </a:solidFill>
              </a:defRPr>
            </a:pPr>
            <a:r>
              <a:t>Allowlists, onboarding, typing indicators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3749039"/>
            <a:ext cx="3474720" cy="219456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388619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</a:defRPr>
            </a:pPr>
            <a:r>
              <a:t>💬  Sessions (src/sessions/, acp/)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297679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DD"/>
                </a:solidFill>
              </a:defRPr>
            </a:pPr>
            <a:r>
              <a:t>Session keys: agent:main:main</a:t>
            </a:r>
          </a:p>
          <a:p>
            <a:pPr>
              <a:spcAft>
                <a:spcPts val="600"/>
              </a:spcAft>
              <a:defRPr sz="1300">
                <a:solidFill>
                  <a:srgbClr val="CCCCDD"/>
                </a:solidFill>
              </a:defRPr>
            </a:pPr>
            <a:r>
              <a:t>Create, load, list, reset, compact</a:t>
            </a:r>
          </a:p>
          <a:p>
            <a:pPr>
              <a:spcAft>
                <a:spcPts val="600"/>
              </a:spcAft>
              <a:defRPr sz="1300">
                <a:solidFill>
                  <a:srgbClr val="CCCCDD"/>
                </a:solidFill>
              </a:defRPr>
            </a:pPr>
            <a:r>
              <a:t>In-memory + gateway-managed stores</a:t>
            </a:r>
          </a:p>
          <a:p>
            <a:pPr>
              <a:spcAft>
                <a:spcPts val="600"/>
              </a:spcAft>
              <a:defRPr sz="1300">
                <a:solidFill>
                  <a:srgbClr val="CCCCDD"/>
                </a:solidFill>
              </a:defRPr>
            </a:pPr>
            <a:r>
              <a:t>Context management: auto-compaction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749039"/>
            <a:ext cx="3474720" cy="219456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88619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</a:defRPr>
            </a:pPr>
            <a:r>
              <a:t>📚  Skills (.agents/skills/)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297679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DD"/>
                </a:solidFill>
              </a:defRPr>
            </a:pPr>
            <a:r>
              <a:t>review-pr, prepare-pr, merge-pr, mintlify</a:t>
            </a:r>
          </a:p>
          <a:p>
            <a:pPr>
              <a:spcAft>
                <a:spcPts val="600"/>
              </a:spcAft>
              <a:defRPr sz="1300">
                <a:solidFill>
                  <a:srgbClr val="CCCCDD"/>
                </a:solidFill>
              </a:defRPr>
            </a:pPr>
            <a:r>
              <a:t>Markdown playbooks injected into context</a:t>
            </a:r>
          </a:p>
          <a:p>
            <a:pPr>
              <a:spcAft>
                <a:spcPts val="600"/>
              </a:spcAft>
              <a:defRPr sz="1300">
                <a:solidFill>
                  <a:srgbClr val="CCCCDD"/>
                </a:solidFill>
              </a:defRPr>
            </a:pPr>
            <a:r>
              <a:t>Step-by-step agent workflows</a:t>
            </a:r>
          </a:p>
          <a:p>
            <a:pPr>
              <a:spcAft>
                <a:spcPts val="600"/>
              </a:spcAft>
              <a:defRPr sz="1300">
                <a:solidFill>
                  <a:srgbClr val="CCCCDD"/>
                </a:solidFill>
              </a:defRPr>
            </a:pPr>
            <a:r>
              <a:t>Version-controlled, composable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2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OpenClaw — Source Directory 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3749039" cy="502920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3383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</a:defRPr>
            </a:pPr>
            <a:r>
              <a:t>Core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338327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CCCCDD"/>
                </a:solidFill>
              </a:defRPr>
            </a:pPr>
            <a:r>
              <a:t>src/gateway/ — WS server, HTTP API, protocol</a:t>
            </a:r>
          </a:p>
          <a:p>
            <a:pPr>
              <a:spcAft>
                <a:spcPts val="600"/>
              </a:spcAft>
              <a:defRPr sz="1200">
                <a:solidFill>
                  <a:srgbClr val="CCCCDD"/>
                </a:solidFill>
              </a:defRPr>
            </a:pPr>
            <a:r>
              <a:t>src/config/ — config loading, Zod schemas</a:t>
            </a:r>
          </a:p>
          <a:p>
            <a:pPr>
              <a:spcAft>
                <a:spcPts val="600"/>
              </a:spcAft>
              <a:defRPr sz="1200">
                <a:solidFill>
                  <a:srgbClr val="CCCCDD"/>
                </a:solidFill>
              </a:defRPr>
            </a:pPr>
            <a:r>
              <a:t>src/infra/ — heartbeat, state migrations</a:t>
            </a:r>
          </a:p>
          <a:p>
            <a:pPr>
              <a:spcAft>
                <a:spcPts val="600"/>
              </a:spcAft>
              <a:defRPr sz="1200">
                <a:solidFill>
                  <a:srgbClr val="CCCCDD"/>
                </a:solidFill>
              </a:defRPr>
            </a:pPr>
            <a:r>
              <a:t>src/routing/ — message routing, session keys</a:t>
            </a:r>
          </a:p>
          <a:p>
            <a:pPr>
              <a:spcAft>
                <a:spcPts val="600"/>
              </a:spcAft>
              <a:defRPr sz="1200">
                <a:solidFill>
                  <a:srgbClr val="CCCCDD"/>
                </a:solidFill>
              </a:defRPr>
            </a:pPr>
            <a:r>
              <a:t>src/cli/ — CLI wiring (Commander)</a:t>
            </a:r>
          </a:p>
          <a:p>
            <a:pPr>
              <a:spcAft>
                <a:spcPts val="600"/>
              </a:spcAft>
              <a:defRPr sz="1200">
                <a:solidFill>
                  <a:srgbClr val="CCCCDD"/>
                </a:solidFill>
              </a:defRPr>
            </a:pPr>
            <a:r>
              <a:t>src/commands/ — CLI commands (auth, config…)</a:t>
            </a:r>
          </a:p>
          <a:p>
            <a:pPr>
              <a:spcAft>
                <a:spcPts val="600"/>
              </a:spcAft>
              <a:defRPr sz="1200">
                <a:solidFill>
                  <a:srgbClr val="CCCCDD"/>
                </a:solidFill>
              </a:defRPr>
            </a:pPr>
            <a:r>
              <a:t>src/daemon/ — background process mgmt</a:t>
            </a:r>
          </a:p>
          <a:p>
            <a:pPr>
              <a:spcAft>
                <a:spcPts val="600"/>
              </a:spcAft>
              <a:defRPr sz="1200">
                <a:solidFill>
                  <a:srgbClr val="CCCCDD"/>
                </a:solidFill>
              </a:defRPr>
            </a:pPr>
            <a:r>
              <a:t>src/logging/ — log transports</a:t>
            </a:r>
          </a:p>
          <a:p>
            <a:pPr>
              <a:spcAft>
                <a:spcPts val="600"/>
              </a:spcAft>
              <a:defRPr sz="1200">
                <a:solidFill>
                  <a:srgbClr val="CCCCDD"/>
                </a:solidFill>
              </a:defRPr>
            </a:pPr>
            <a:r>
              <a:t>src/security/ — audit, verification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280160"/>
            <a:ext cx="3749039" cy="502920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417320"/>
            <a:ext cx="3383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</a:defRPr>
            </a:pPr>
            <a:r>
              <a:t>AI &amp; Agent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828800"/>
            <a:ext cx="338327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CCCCDD"/>
                </a:solidFill>
              </a:defRPr>
            </a:pPr>
            <a:r>
              <a:t>src/agents/ — agent loop, tools, sandbox</a:t>
            </a:r>
          </a:p>
          <a:p>
            <a:pPr>
              <a:spcAft>
                <a:spcPts val="600"/>
              </a:spcAft>
              <a:defRPr sz="1200">
                <a:solidFill>
                  <a:srgbClr val="CCCCDD"/>
                </a:solidFill>
              </a:defRPr>
            </a:pPr>
            <a:r>
              <a:t>src/providers/ — LLM integrations</a:t>
            </a:r>
          </a:p>
          <a:p>
            <a:pPr>
              <a:spcAft>
                <a:spcPts val="600"/>
              </a:spcAft>
              <a:defRPr sz="1200">
                <a:solidFill>
                  <a:srgbClr val="CCCCDD"/>
                </a:solidFill>
              </a:defRPr>
            </a:pPr>
            <a:r>
              <a:t>src/acp/ — Agent Client Protocol</a:t>
            </a:r>
          </a:p>
          <a:p>
            <a:pPr>
              <a:spcAft>
                <a:spcPts val="600"/>
              </a:spcAft>
              <a:defRPr sz="1200">
                <a:solidFill>
                  <a:srgbClr val="CCCCDD"/>
                </a:solidFill>
              </a:defRPr>
            </a:pPr>
            <a:r>
              <a:t>src/auto-reply/ — reply chunking, streaming</a:t>
            </a:r>
          </a:p>
          <a:p>
            <a:pPr>
              <a:spcAft>
                <a:spcPts val="600"/>
              </a:spcAft>
              <a:defRPr sz="1200">
                <a:solidFill>
                  <a:srgbClr val="CCCCDD"/>
                </a:solidFill>
              </a:defRPr>
            </a:pPr>
            <a:r>
              <a:t>src/memory/ — QMD manager, sync</a:t>
            </a:r>
          </a:p>
          <a:p>
            <a:pPr>
              <a:spcAft>
                <a:spcPts val="600"/>
              </a:spcAft>
              <a:defRPr sz="1200">
                <a:solidFill>
                  <a:srgbClr val="CCCCDD"/>
                </a:solidFill>
              </a:defRPr>
            </a:pPr>
            <a:r>
              <a:t>src/sessions/ — session management</a:t>
            </a:r>
          </a:p>
          <a:p>
            <a:pPr>
              <a:spcAft>
                <a:spcPts val="600"/>
              </a:spcAft>
              <a:defRPr sz="1200">
                <a:solidFill>
                  <a:srgbClr val="CCCCDD"/>
                </a:solidFill>
              </a:defRPr>
            </a:pPr>
            <a:r>
              <a:t>src/browser/ — Playwright browser tool</a:t>
            </a:r>
          </a:p>
          <a:p>
            <a:pPr>
              <a:spcAft>
                <a:spcPts val="600"/>
              </a:spcAft>
              <a:defRPr sz="1200">
                <a:solidFill>
                  <a:srgbClr val="CCCCDD"/>
                </a:solidFill>
              </a:defRPr>
            </a:pPr>
            <a:r>
              <a:t>src/tts/ — text-to-speech</a:t>
            </a:r>
          </a:p>
          <a:p>
            <a:pPr>
              <a:spcAft>
                <a:spcPts val="600"/>
              </a:spcAft>
              <a:defRPr sz="1200">
                <a:solidFill>
                  <a:srgbClr val="CCCCDD"/>
                </a:solidFill>
              </a:defRPr>
            </a:pPr>
            <a:r>
              <a:t>src/media/ — MIME detection, storage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280160"/>
            <a:ext cx="3749039" cy="502920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417320"/>
            <a:ext cx="3383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</a:defRPr>
            </a:pPr>
            <a:r>
              <a:t>Channels &amp; Extensions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828800"/>
            <a:ext cx="338327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CCCCDD"/>
                </a:solidFill>
              </a:defRPr>
            </a:pPr>
            <a:r>
              <a:t>src/telegram/ — Telegram (grammy)</a:t>
            </a:r>
          </a:p>
          <a:p>
            <a:pPr>
              <a:spcAft>
                <a:spcPts val="600"/>
              </a:spcAft>
              <a:defRPr sz="1200">
                <a:solidFill>
                  <a:srgbClr val="CCCCDD"/>
                </a:solidFill>
              </a:defRPr>
            </a:pPr>
            <a:r>
              <a:t>src/discord/ — Discord (@buape/carbon)</a:t>
            </a:r>
          </a:p>
          <a:p>
            <a:pPr>
              <a:spcAft>
                <a:spcPts val="600"/>
              </a:spcAft>
              <a:defRPr sz="1200">
                <a:solidFill>
                  <a:srgbClr val="CCCCDD"/>
                </a:solidFill>
              </a:defRPr>
            </a:pPr>
            <a:r>
              <a:t>src/slack/ — Slack (@slack/bolt)</a:t>
            </a:r>
          </a:p>
          <a:p>
            <a:pPr>
              <a:spcAft>
                <a:spcPts val="600"/>
              </a:spcAft>
              <a:defRPr sz="1200">
                <a:solidFill>
                  <a:srgbClr val="CCCCDD"/>
                </a:solidFill>
              </a:defRPr>
            </a:pPr>
            <a:r>
              <a:t>src/signal/ — Signal</a:t>
            </a:r>
          </a:p>
          <a:p>
            <a:pPr>
              <a:spcAft>
                <a:spcPts val="600"/>
              </a:spcAft>
              <a:defRPr sz="1200">
                <a:solidFill>
                  <a:srgbClr val="CCCCDD"/>
                </a:solidFill>
              </a:defRPr>
            </a:pPr>
            <a:r>
              <a:t>src/imessage/ — iMessage</a:t>
            </a:r>
          </a:p>
          <a:p>
            <a:pPr>
              <a:spcAft>
                <a:spcPts val="600"/>
              </a:spcAft>
              <a:defRPr sz="1200">
                <a:solidFill>
                  <a:srgbClr val="CCCCDD"/>
                </a:solidFill>
              </a:defRPr>
            </a:pPr>
            <a:r>
              <a:t>src/whatsapp/ — WhatsApp (Baileys)</a:t>
            </a:r>
          </a:p>
          <a:p>
            <a:pPr>
              <a:spcAft>
                <a:spcPts val="600"/>
              </a:spcAft>
              <a:defRPr sz="1200">
                <a:solidFill>
                  <a:srgbClr val="CCCCDD"/>
                </a:solidFill>
              </a:defRPr>
            </a:pPr>
            <a:r>
              <a:t>src/channels/ — shared plugin system</a:t>
            </a:r>
          </a:p>
          <a:p>
            <a:pPr>
              <a:spcAft>
                <a:spcPts val="600"/>
              </a:spcAft>
              <a:defRPr sz="1200">
                <a:solidFill>
                  <a:srgbClr val="CCCCDD"/>
                </a:solidFill>
              </a:defRPr>
            </a:pPr>
            <a:r>
              <a:t>src/plugin-sdk/ — extension API</a:t>
            </a:r>
          </a:p>
          <a:p>
            <a:pPr>
              <a:spcAft>
                <a:spcPts val="600"/>
              </a:spcAft>
              <a:defRPr sz="1200">
                <a:solidFill>
                  <a:srgbClr val="CCCCDD"/>
                </a:solidFill>
              </a:defRPr>
            </a:pPr>
            <a:r>
              <a:t>extensions/ — 36 community plugins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2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OpenClaw — Message Flow (End to End)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0789920" cy="475488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</a:defRPr>
            </a:pPr>
            <a:r>
              <a:t>User Message → AI Response (step by step)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1. USER sends message on a channel (e.g. WhatsApp, Discord, Telegram, CLI)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2. CHANNEL ADAPTER receives the message, normalizes it, checks allowlist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   → src/telegram/bot-handlers.ts, src/discord/monitor/, src/slack/, etc.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3. ROUTING resolves the session key and routes to the correct agent session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   → src/routing/ — session key resolution, channel → session mapping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4. GATEWAY dispatches the message to the agent via WebSocket event frames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   → src/gateway/server/ — ws-connection, message-handler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5. AGENT receives the prompt, injects session context + system prompt + tools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   → src/agents/ — pi-embedded-runner, context assembly, tool registration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6. MODEL processes the prompt (Anthropic/OpenAI/etc.) and returns tokens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   → src/providers/ — API calls, streaming, token counting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7. AGENT executes any tool calls (shell, file, HTTP, plugin tools), feeds results back to model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   → src/agents/bash-tools.exec.ts, src/browser/, plugin SDK tool handlers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8. RESPONSE streams back through gateway → channel adapter → user's chat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   → src/auto-reply/ — chunking, coalesce, queue → channel send functions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2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OpenClaw — Fork Improvement Opportunities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303520" cy="493776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</a:defRPr>
            </a:pPr>
            <a:r>
              <a:t>High Impact — Quick Wins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14/36 extensions have ZERO tests (discord, signal, slack…)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  → Add basic unit tests for message parsing &amp; config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23/36 extensions lack a README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  → Add minimal docs (purpose, config, setup)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Most extensions missing from docs navigation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  → Update docs/docs.json Mintlify nav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Plugin SDK has no getting-started guide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  → Create docs/plugins/authoring.md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280160"/>
            <a:ext cx="5303520" cy="493776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4173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7316"/>
                </a:solidFill>
              </a:defRPr>
            </a:pPr>
            <a:r>
              <a:t>High Impact — Medium Effort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130 files exceed 500-LOC guideline (top: 1,156 LOC)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  → Refactor: extract helpers, split modules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Coverage exclusions hide real test gaps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  → Gradually remove exclusions, add tests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Dual schema (Zod + TypeBox) adds cognitive load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  → Standardize on one (likely Zod v4)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iOS CI is disabled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  → Re-enable build verification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Pre-release deps (node-pty, sqlite-vec, rolldown)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</a:defRPr>
            </a:pPr>
            <a:r>
              <a:t>  → Track stable releases and upgrade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2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Summary — Key Takeaways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0789920" cy="4754880"/>
          </a:xfrm>
          <a:prstGeom prst="roundRect">
            <a:avLst/>
          </a:prstGeom>
          <a:solidFill>
            <a:srgbClr val="2A2A3C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</a:defRPr>
            </a:pPr>
            <a:r>
              <a:t>Everything Connects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CCCDD"/>
                </a:solidFill>
              </a:defRPr>
            </a:pPr>
            <a:r>
              <a:t>MODELS are the prediction engines — choose by task, cost, context window, capabilities</a:t>
            </a:r>
          </a:p>
          <a:p>
            <a:pPr>
              <a:spcAft>
                <a:spcPts val="600"/>
              </a:spcAft>
              <a:defRPr sz="1600">
                <a:solidFill>
                  <a:srgbClr val="CCCCDD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CCCCDD"/>
                </a:solidFill>
              </a:defRPr>
            </a:pPr>
            <a:r>
              <a:t>TOKENS are the currency — every word costs tokens; context window limits what the model sees</a:t>
            </a:r>
          </a:p>
          <a:p>
            <a:pPr>
              <a:spcAft>
                <a:spcPts val="600"/>
              </a:spcAft>
              <a:defRPr sz="1600">
                <a:solidFill>
                  <a:srgbClr val="CCCCDD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CCCCDD"/>
                </a:solidFill>
              </a:defRPr>
            </a:pPr>
            <a:r>
              <a:t>AGENTS are the orchestrators — they use models + tools in a reasoning loop to accomplish tasks</a:t>
            </a:r>
          </a:p>
          <a:p>
            <a:pPr>
              <a:spcAft>
                <a:spcPts val="600"/>
              </a:spcAft>
              <a:defRPr sz="1600">
                <a:solidFill>
                  <a:srgbClr val="CCCCDD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CCCCDD"/>
                </a:solidFill>
              </a:defRPr>
            </a:pPr>
            <a:r>
              <a:t>TOOLS extend agents — file I/O, shell, HTTP, browser, plugins; configured and permission-gated</a:t>
            </a:r>
          </a:p>
          <a:p>
            <a:pPr>
              <a:spcAft>
                <a:spcPts val="600"/>
              </a:spcAft>
              <a:defRPr sz="1600">
                <a:solidFill>
                  <a:srgbClr val="CCCCDD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CCCCDD"/>
                </a:solidFill>
              </a:defRPr>
            </a:pPr>
            <a:r>
              <a:t>MCP standardizes tool integration — 'USB-C for AI'; one protocol connects any tool to any agent</a:t>
            </a:r>
          </a:p>
          <a:p>
            <a:pPr>
              <a:spcAft>
                <a:spcPts val="600"/>
              </a:spcAft>
              <a:defRPr sz="1600">
                <a:solidFill>
                  <a:srgbClr val="CCCCDD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CCCCDD"/>
                </a:solidFill>
              </a:defRPr>
            </a:pPr>
            <a:r>
              <a:t>SESSIONS maintain state — conversation history, context management, compaction, handoff</a:t>
            </a:r>
          </a:p>
          <a:p>
            <a:pPr>
              <a:spcAft>
                <a:spcPts val="600"/>
              </a:spcAft>
              <a:defRPr sz="1600">
                <a:solidFill>
                  <a:srgbClr val="CCCCDD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CCCCDD"/>
                </a:solidFill>
              </a:defRPr>
            </a:pPr>
            <a:r>
              <a:t>SKILLS are agent playbooks — markdown instructions injected into context for step-by-step workflows</a:t>
            </a:r>
          </a:p>
          <a:p>
            <a:pPr>
              <a:spcAft>
                <a:spcPts val="600"/>
              </a:spcAft>
              <a:defRPr sz="1600">
                <a:solidFill>
                  <a:srgbClr val="CCCCDD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CCCCDD"/>
                </a:solidFill>
              </a:defRPr>
            </a:pPr>
            <a:r>
              <a:t>OPENCLAW ties it all together — a self-hosted AI gateway that routes messages across 20+ channels,</a:t>
            </a:r>
          </a:p>
          <a:p>
            <a:pPr>
              <a:spcAft>
                <a:spcPts val="600"/>
              </a:spcAft>
              <a:defRPr sz="1600">
                <a:solidFill>
                  <a:srgbClr val="CCCCDD"/>
                </a:solidFill>
              </a:defRPr>
            </a:pPr>
            <a:r>
              <a:t>  orchestrates agents with configurable models/tools/skills, and integrates with IDEs via ACP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999AA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AA"/>
                </a:solidFill>
              </a:defRPr>
            </a:pPr>
            <a:r>
              <a:t>GitHub: github.com/faisalahmed88/openclaw  ·  Docs: docs.openclaw.ai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